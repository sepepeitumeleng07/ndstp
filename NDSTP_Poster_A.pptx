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5">
          <p15:clr>
            <a:srgbClr val="A4A3A4"/>
          </p15:clr>
        </p15:guide>
        <p15:guide id="2" orient="horz" pos="18616">
          <p15:clr>
            <a:srgbClr val="A4A3A4"/>
          </p15:clr>
        </p15:guide>
        <p15:guide id="3" pos="455">
          <p15:clr>
            <a:srgbClr val="A4A3A4"/>
          </p15:clr>
        </p15:guide>
        <p15:guide id="4" pos="13015">
          <p15:clr>
            <a:srgbClr val="A4A3A4"/>
          </p15:clr>
        </p15:guide>
        <p15:guide id="5" pos="6555">
          <p15:clr>
            <a:srgbClr val="A4A3A4"/>
          </p15:clr>
        </p15:guide>
        <p15:guide id="6" pos="691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260" y="24"/>
      </p:cViewPr>
      <p:guideLst>
        <p:guide orient="horz" pos="455"/>
        <p:guide orient="horz" pos="18616"/>
        <p:guide pos="455"/>
        <p:guide pos="13015"/>
        <p:guide pos="6555"/>
        <p:guide pos="6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19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itle block"/>
          <p:cNvGrpSpPr/>
          <p:nvPr/>
        </p:nvGrpSpPr>
        <p:grpSpPr>
          <a:xfrm>
            <a:off x="2471587" y="721805"/>
            <a:ext cx="13392832" cy="3319272"/>
            <a:chOff x="652352" y="795528"/>
            <a:chExt cx="13392832" cy="3319272"/>
          </a:xfrm>
        </p:grpSpPr>
        <p:sp>
          <p:nvSpPr>
            <p:cNvPr id="3" name="Eyebrow"/>
            <p:cNvSpPr txBox="1"/>
            <p:nvPr/>
          </p:nvSpPr>
          <p:spPr>
            <a:xfrm>
              <a:off x="722376" y="795528"/>
              <a:ext cx="13322808" cy="3931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700" b="1" i="0" spc="300" dirty="0">
                  <a:solidFill>
                    <a:schemeClr val="accent1"/>
                  </a:solidFill>
                  <a:latin typeface="+mn-lt"/>
                </a:rPr>
                <a:t>B</a:t>
              </a:r>
              <a:r>
                <a:rPr lang="en-US" sz="1700" b="1" i="0" spc="300" dirty="0">
                  <a:solidFill>
                    <a:schemeClr val="accent1"/>
                  </a:solidFill>
                  <a:latin typeface="+mn-lt"/>
                </a:rPr>
                <a:t>SBS</a:t>
              </a:r>
              <a:r>
                <a:rPr sz="1700" b="1" i="0" spc="300" dirty="0">
                  <a:solidFill>
                    <a:schemeClr val="accent1"/>
                  </a:solidFill>
                  <a:latin typeface="+mn-lt"/>
                </a:rPr>
                <a:t>  •  </a:t>
              </a:r>
              <a:r>
                <a:rPr lang="en-US" sz="1700" b="1" spc="300" dirty="0">
                  <a:solidFill>
                    <a:schemeClr val="accent1"/>
                  </a:solidFill>
                </a:rPr>
                <a:t>RESEARCH AND INNOVATION PROJECT</a:t>
              </a:r>
              <a:endParaRPr sz="1700" b="1" i="0" spc="300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4" name="Project title"/>
            <p:cNvSpPr txBox="1"/>
            <p:nvPr/>
          </p:nvSpPr>
          <p:spPr>
            <a:xfrm>
              <a:off x="722376" y="1188720"/>
              <a:ext cx="13322808" cy="1417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4600" b="1" i="0">
                  <a:solidFill>
                    <a:schemeClr val="tx1"/>
                  </a:solidFill>
                  <a:latin typeface="+mj-lt"/>
                </a:rPr>
                <a:t>National Driving School &amp; Testing Portal (NDSTP)</a:t>
              </a:r>
            </a:p>
          </p:txBody>
        </p:sp>
        <p:sp>
          <p:nvSpPr>
            <p:cNvPr id="5" name="Description"/>
            <p:cNvSpPr txBox="1"/>
            <p:nvPr/>
          </p:nvSpPr>
          <p:spPr>
            <a:xfrm>
              <a:off x="722376" y="2651760"/>
              <a:ext cx="13322808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2100" b="0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</a:rPr>
                <a:t>A centralized web application for DRTS license examination bookings and an accredited driving school directory</a:t>
              </a:r>
            </a:p>
          </p:txBody>
        </p:sp>
        <p:sp>
          <p:nvSpPr>
            <p:cNvPr id="6" name="Group members"/>
            <p:cNvSpPr txBox="1"/>
            <p:nvPr/>
          </p:nvSpPr>
          <p:spPr>
            <a:xfrm>
              <a:off x="652352" y="3185160"/>
              <a:ext cx="13322808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2000" b="0" i="0" dirty="0">
                  <a:solidFill>
                    <a:schemeClr val="tx1"/>
                  </a:solidFill>
                  <a:latin typeface="+mn-lt"/>
                </a:rPr>
                <a:t>Group Members:</a:t>
              </a:r>
              <a:r>
                <a:rPr sz="2000" b="0" i="0" dirty="0">
                  <a:solidFill>
                    <a:schemeClr val="tx1"/>
                  </a:solidFill>
                  <a:latin typeface="+mn-lt"/>
                </a:rPr>
                <a:t> Itumeleng Sepepe</a:t>
              </a:r>
              <a:r>
                <a:rPr lang="en-US" sz="2000" b="0" i="0" dirty="0">
                  <a:solidFill>
                    <a:schemeClr val="tx1"/>
                  </a:solidFill>
                  <a:latin typeface="+mn-lt"/>
                </a:rPr>
                <a:t> |</a:t>
              </a:r>
              <a:r>
                <a:rPr lang="en-US" sz="2000" b="0" i="0" dirty="0" err="1">
                  <a:solidFill>
                    <a:schemeClr val="tx1"/>
                  </a:solidFill>
                  <a:latin typeface="+mn-lt"/>
                </a:rPr>
                <a:t>Rrapula</a:t>
              </a:r>
              <a:r>
                <a:rPr lang="en-US" sz="2000" b="0" i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2000" b="0" i="0" dirty="0" err="1">
                  <a:solidFill>
                    <a:schemeClr val="tx1"/>
                  </a:solidFill>
                  <a:latin typeface="+mn-lt"/>
                </a:rPr>
                <a:t>Phemelo</a:t>
              </a:r>
              <a:r>
                <a:rPr lang="en-US" sz="2000" b="0" i="0" dirty="0">
                  <a:solidFill>
                    <a:schemeClr val="tx1"/>
                  </a:solidFill>
                  <a:latin typeface="+mn-lt"/>
                </a:rPr>
                <a:t> Semele |Bame Bale |Kago </a:t>
              </a:r>
              <a:r>
                <a:rPr lang="en-US" sz="2000" b="0" i="0" dirty="0" err="1">
                  <a:solidFill>
                    <a:schemeClr val="tx1"/>
                  </a:solidFill>
                  <a:latin typeface="+mn-lt"/>
                </a:rPr>
                <a:t>Tlotlo</a:t>
              </a:r>
              <a:r>
                <a:rPr lang="en-US" sz="2000" b="0" i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2000" b="0" i="0" dirty="0" err="1">
                  <a:solidFill>
                    <a:schemeClr val="tx1"/>
                  </a:solidFill>
                  <a:latin typeface="+mn-lt"/>
                </a:rPr>
                <a:t>Kelefe</a:t>
              </a:r>
              <a:endParaRPr sz="2000" b="0" i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Institution"/>
            <p:cNvSpPr txBox="1"/>
            <p:nvPr/>
          </p:nvSpPr>
          <p:spPr>
            <a:xfrm>
              <a:off x="722376" y="3703320"/>
              <a:ext cx="13322808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lang="en-US" sz="17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Institution Name [BOTSWANA SCHOOL OF BUSINESS SCIENCES]</a:t>
              </a:r>
              <a:r>
                <a:rPr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  • BSc (Hons) Computer Systems Engineering</a:t>
              </a:r>
              <a:r>
                <a:rPr lang="en-US" sz="1700" b="0" i="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 [2024-2028]</a:t>
              </a:r>
              <a:endParaRPr sz="1700" b="0" i="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endParaRPr>
            </a:p>
          </p:txBody>
        </p:sp>
      </p:grpSp>
      <p:grpSp>
        <p:nvGrpSpPr>
          <p:cNvPr id="8" name="Project facts"/>
          <p:cNvGrpSpPr/>
          <p:nvPr/>
        </p:nvGrpSpPr>
        <p:grpSpPr>
          <a:xfrm>
            <a:off x="14548104" y="722376"/>
            <a:ext cx="6117336" cy="3739896"/>
            <a:chOff x="14548104" y="722376"/>
            <a:chExt cx="6117336" cy="3739896"/>
          </a:xfrm>
        </p:grpSpPr>
        <p:sp>
          <p:nvSpPr>
            <p:cNvPr id="9" name="Panel"/>
            <p:cNvSpPr/>
            <p:nvPr/>
          </p:nvSpPr>
          <p:spPr>
            <a:xfrm>
              <a:off x="14548104" y="722376"/>
              <a:ext cx="6117336" cy="3739896"/>
            </a:xfrm>
            <a:prstGeom prst="roundRect">
              <a:avLst>
                <a:gd name="adj" fmla="val 44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ch Stack label"/>
            <p:cNvSpPr txBox="1"/>
            <p:nvPr/>
          </p:nvSpPr>
          <p:spPr>
            <a:xfrm>
              <a:off x="14977872" y="996696"/>
              <a:ext cx="3300984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TECH STACK</a:t>
              </a:r>
            </a:p>
          </p:txBody>
        </p:sp>
        <p:sp>
          <p:nvSpPr>
            <p:cNvPr id="12" name="Tech Stack value"/>
            <p:cNvSpPr txBox="1"/>
            <p:nvPr/>
          </p:nvSpPr>
          <p:spPr>
            <a:xfrm>
              <a:off x="14977872" y="1344168"/>
              <a:ext cx="3300984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700" b="0" i="0">
                  <a:solidFill>
                    <a:schemeClr val="bg1"/>
                  </a:solidFill>
                  <a:latin typeface="+mn-lt"/>
                </a:rPr>
                <a:t>HTML5, CSS3, JS, Node.js, MySQL</a:t>
              </a:r>
            </a:p>
          </p:txBody>
        </p:sp>
        <p:sp>
          <p:nvSpPr>
            <p:cNvPr id="13" name="Duration label"/>
            <p:cNvSpPr txBox="1"/>
            <p:nvPr/>
          </p:nvSpPr>
          <p:spPr>
            <a:xfrm>
              <a:off x="14977872" y="2090928"/>
              <a:ext cx="3300984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DURATION</a:t>
              </a:r>
            </a:p>
          </p:txBody>
        </p:sp>
        <p:sp>
          <p:nvSpPr>
            <p:cNvPr id="14" name="Duration value"/>
            <p:cNvSpPr txBox="1"/>
            <p:nvPr/>
          </p:nvSpPr>
          <p:spPr>
            <a:xfrm>
              <a:off x="14977872" y="2438400"/>
              <a:ext cx="3300984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14 weeks</a:t>
              </a:r>
            </a:p>
          </p:txBody>
        </p:sp>
        <p:sp>
          <p:nvSpPr>
            <p:cNvPr id="15" name="Supervisor label"/>
            <p:cNvSpPr txBox="1"/>
            <p:nvPr/>
          </p:nvSpPr>
          <p:spPr>
            <a:xfrm>
              <a:off x="14977872" y="3185160"/>
              <a:ext cx="3300984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4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METHOD</a:t>
              </a:r>
            </a:p>
          </p:txBody>
        </p:sp>
        <p:sp>
          <p:nvSpPr>
            <p:cNvPr id="16" name="Supervisor value"/>
            <p:cNvSpPr txBox="1"/>
            <p:nvPr/>
          </p:nvSpPr>
          <p:spPr>
            <a:xfrm>
              <a:off x="14977872" y="3532632"/>
              <a:ext cx="3300984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900" b="0" i="0">
                  <a:solidFill>
                    <a:schemeClr val="bg1"/>
                  </a:solidFill>
                  <a:latin typeface="+mn-lt"/>
                </a:rPr>
                <a:t>Agile sprints</a:t>
              </a:r>
            </a:p>
          </p:txBody>
        </p:sp>
        <p:sp>
          <p:nvSpPr>
            <p:cNvPr id="72" name="Logo tile"/>
            <p:cNvSpPr/>
            <p:nvPr/>
          </p:nvSpPr>
          <p:spPr>
            <a:xfrm>
              <a:off x="18644616" y="1005840"/>
              <a:ext cx="1655064" cy="165506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2400" b="1" dirty="0">
                  <a:solidFill>
                    <a:schemeClr val="bg1"/>
                  </a:solidFill>
                </a:rPr>
                <a:t>NDSTP</a:t>
              </a:r>
            </a:p>
          </p:txBody>
        </p:sp>
      </p:grpSp>
      <p:grpSp>
        <p:nvGrpSpPr>
          <p:cNvPr id="17" name="Section 1 - Introduction &amp; Problem Statement"/>
          <p:cNvGrpSpPr/>
          <p:nvPr/>
        </p:nvGrpSpPr>
        <p:grpSpPr>
          <a:xfrm>
            <a:off x="722376" y="4965192"/>
            <a:ext cx="9683496" cy="3931920"/>
            <a:chOff x="722376" y="4965192"/>
            <a:chExt cx="9683496" cy="3931920"/>
          </a:xfrm>
        </p:grpSpPr>
        <p:sp>
          <p:nvSpPr>
            <p:cNvPr id="18" name="Card"/>
            <p:cNvSpPr/>
            <p:nvPr/>
          </p:nvSpPr>
          <p:spPr>
            <a:xfrm>
              <a:off x="722376" y="4965192"/>
              <a:ext cx="9683496" cy="3931920"/>
            </a:xfrm>
            <a:prstGeom prst="roundRect">
              <a:avLst>
                <a:gd name="adj" fmla="val 4186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Number"/>
            <p:cNvSpPr txBox="1"/>
            <p:nvPr/>
          </p:nvSpPr>
          <p:spPr>
            <a:xfrm>
              <a:off x="1078992" y="5221224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1</a:t>
              </a:r>
            </a:p>
          </p:txBody>
        </p:sp>
        <p:sp>
          <p:nvSpPr>
            <p:cNvPr id="20" name="Heading"/>
            <p:cNvSpPr txBox="1"/>
            <p:nvPr/>
          </p:nvSpPr>
          <p:spPr>
            <a:xfrm>
              <a:off x="1947672" y="5221224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INTRODUCTION &amp; PROBLEM STATEMENT</a:t>
              </a:r>
            </a:p>
          </p:txBody>
        </p:sp>
        <p:sp>
          <p:nvSpPr>
            <p:cNvPr id="21" name="Introduction text"/>
            <p:cNvSpPr txBox="1"/>
            <p:nvPr/>
          </p:nvSpPr>
          <p:spPr>
            <a:xfrm>
              <a:off x="1078992" y="6108192"/>
              <a:ext cx="8970264" cy="2743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Background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Licensing needs three sequential modules: Theory, Yard and Road.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DRTS bookings are manual: long queues, low date visibility.</a:t>
              </a:r>
            </a:p>
            <a:p>
              <a:pPr algn="l">
                <a:spcAft>
                  <a:spcPts val="400"/>
                </a:spcAft>
                <a:buNone/>
              </a:pPr>
              <a:r>
                <a:rPr sz="2000" b="1" i="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Problem Statement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Paper logs cause double-booking, idle examiner time and no-shows.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No national school directory: drivers face information asymmetry.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1" i="0">
                  <a:solidFill>
                    <a:schemeClr val="tx1"/>
                  </a:solidFill>
                  <a:latin typeface="+mn-lt"/>
                </a:rPr>
                <a:t>Solution: </a:t>
              </a:r>
              <a:r>
                <a:rPr sz="1900" b="0" i="0">
                  <a:solidFill>
                    <a:schemeClr val="tx1"/>
                  </a:solidFill>
                  <a:latin typeface="+mn-lt"/>
                </a:rPr>
                <a:t>real-time slot locking plus a verified school marketplace.</a:t>
              </a:r>
            </a:p>
          </p:txBody>
        </p:sp>
      </p:grpSp>
      <p:grpSp>
        <p:nvGrpSpPr>
          <p:cNvPr id="22" name="Section 3 - System Design"/>
          <p:cNvGrpSpPr/>
          <p:nvPr/>
        </p:nvGrpSpPr>
        <p:grpSpPr>
          <a:xfrm>
            <a:off x="722376" y="9262872"/>
            <a:ext cx="9683496" cy="14987016"/>
            <a:chOff x="722376" y="9262872"/>
            <a:chExt cx="9683496" cy="14987016"/>
          </a:xfrm>
        </p:grpSpPr>
        <p:sp>
          <p:nvSpPr>
            <p:cNvPr id="23" name="Card"/>
            <p:cNvSpPr/>
            <p:nvPr/>
          </p:nvSpPr>
          <p:spPr>
            <a:xfrm>
              <a:off x="722376" y="9262872"/>
              <a:ext cx="9683496" cy="14987016"/>
            </a:xfrm>
            <a:prstGeom prst="roundRect">
              <a:avLst>
                <a:gd name="adj" fmla="val 1699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Number"/>
            <p:cNvSpPr txBox="1"/>
            <p:nvPr/>
          </p:nvSpPr>
          <p:spPr>
            <a:xfrm>
              <a:off x="1078992" y="9518904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3</a:t>
              </a:r>
            </a:p>
          </p:txBody>
        </p:sp>
        <p:sp>
          <p:nvSpPr>
            <p:cNvPr id="25" name="Heading"/>
            <p:cNvSpPr txBox="1"/>
            <p:nvPr/>
          </p:nvSpPr>
          <p:spPr>
            <a:xfrm>
              <a:off x="1947672" y="9518904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SYSTEM DESIGN</a:t>
              </a:r>
            </a:p>
          </p:txBody>
        </p:sp>
        <p:sp>
          <p:nvSpPr>
            <p:cNvPr id="26" name="Design list 1"/>
            <p:cNvSpPr txBox="1"/>
            <p:nvPr/>
          </p:nvSpPr>
          <p:spPr>
            <a:xfrm>
              <a:off x="1078992" y="10405872"/>
              <a:ext cx="4302252" cy="2037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Agile sprints over 14 weeks.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Multi-tier decoupled web model with RBAC.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Learner: slot search, real-time booking, school lookup.</a:t>
              </a:r>
            </a:p>
          </p:txBody>
        </p:sp>
        <p:sp>
          <p:nvSpPr>
            <p:cNvPr id="27" name="Design list 2"/>
            <p:cNvSpPr txBox="1"/>
            <p:nvPr/>
          </p:nvSpPr>
          <p:spPr>
            <a:xfrm>
              <a:off x="5747004" y="10405872"/>
              <a:ext cx="4302252" cy="2037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Manager: service packages, lead tracking.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Admin: examiner allocation, accreditation audits.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Node.js / Express API with MySQL / PostgreSQL.</a:t>
              </a:r>
            </a:p>
          </p:txBody>
        </p:sp>
        <p:sp>
          <p:nvSpPr>
            <p:cNvPr id="28" name="Design box 1"/>
            <p:cNvSpPr/>
            <p:nvPr/>
          </p:nvSpPr>
          <p:spPr>
            <a:xfrm>
              <a:off x="1078992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Users &amp;</a:t>
              </a:r>
            </a:p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Roles</a:t>
              </a:r>
            </a:p>
          </p:txBody>
        </p:sp>
        <p:sp>
          <p:nvSpPr>
            <p:cNvPr id="29" name="Arrow 1"/>
            <p:cNvSpPr/>
            <p:nvPr/>
          </p:nvSpPr>
          <p:spPr>
            <a:xfrm>
              <a:off x="2969514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Design box 2"/>
            <p:cNvSpPr/>
            <p:nvPr/>
          </p:nvSpPr>
          <p:spPr>
            <a:xfrm>
              <a:off x="3481578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Client UI</a:t>
              </a:r>
            </a:p>
            <a:p>
              <a:pPr algn="ctr"/>
              <a:r>
                <a:rPr sz="1300" b="0" i="0">
                  <a:solidFill>
                    <a:schemeClr val="tx1"/>
                  </a:solidFill>
                  <a:latin typeface="+mn-lt"/>
                </a:rPr>
                <a:t>HTML5 / CSS3 / JS</a:t>
              </a:r>
            </a:p>
          </p:txBody>
        </p:sp>
        <p:sp>
          <p:nvSpPr>
            <p:cNvPr id="31" name="Arrow 2"/>
            <p:cNvSpPr/>
            <p:nvPr/>
          </p:nvSpPr>
          <p:spPr>
            <a:xfrm>
              <a:off x="5372100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Design box 3"/>
            <p:cNvSpPr/>
            <p:nvPr/>
          </p:nvSpPr>
          <p:spPr>
            <a:xfrm>
              <a:off x="5884164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REST API</a:t>
              </a:r>
            </a:p>
            <a:p>
              <a:pPr algn="ctr"/>
              <a:r>
                <a:rPr sz="1300" b="0" i="0">
                  <a:solidFill>
                    <a:schemeClr val="tx1"/>
                  </a:solidFill>
                  <a:latin typeface="+mn-lt"/>
                </a:rPr>
                <a:t>Node.js / Express</a:t>
              </a:r>
            </a:p>
          </p:txBody>
        </p:sp>
        <p:sp>
          <p:nvSpPr>
            <p:cNvPr id="33" name="Arrow 3"/>
            <p:cNvSpPr/>
            <p:nvPr/>
          </p:nvSpPr>
          <p:spPr>
            <a:xfrm>
              <a:off x="7774686" y="13165328"/>
              <a:ext cx="384048" cy="38404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Design box 4"/>
            <p:cNvSpPr/>
            <p:nvPr/>
          </p:nvSpPr>
          <p:spPr>
            <a:xfrm>
              <a:off x="8286750" y="12671552"/>
              <a:ext cx="1762506" cy="1371600"/>
            </a:xfrm>
            <a:prstGeom prst="roundRect">
              <a:avLst>
                <a:gd name="adj" fmla="val 9333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txBody>
            <a:bodyPr wrap="square" lIns="73152" tIns="36576" rIns="73152" bIns="36576" rtlCol="0" anchor="ctr"/>
            <a:lstStyle/>
            <a:p>
              <a:pPr algn="ctr"/>
              <a:r>
                <a:rPr sz="1500" b="1" i="0">
                  <a:solidFill>
                    <a:schemeClr val="tx1"/>
                  </a:solidFill>
                  <a:latin typeface="+mn-lt"/>
                </a:rPr>
                <a:t>Relational DB</a:t>
              </a:r>
            </a:p>
            <a:p>
              <a:pPr algn="ctr"/>
              <a:r>
                <a:rPr sz="1300" b="0" i="0">
                  <a:solidFill>
                    <a:schemeClr val="tx1"/>
                  </a:solidFill>
                  <a:latin typeface="+mn-lt"/>
                </a:rPr>
                <a:t>MySQL / PostgreSQL</a:t>
              </a:r>
            </a:p>
          </p:txBody>
        </p:sp>
        <p:sp>
          <p:nvSpPr>
            <p:cNvPr id="35" name="Design caption"/>
            <p:cNvSpPr txBox="1"/>
            <p:nvPr/>
          </p:nvSpPr>
          <p:spPr>
            <a:xfrm>
              <a:off x="1078992" y="14116304"/>
              <a:ext cx="897026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2. High-level multi-tier design: users, client UI, REST API, relational database.</a:t>
              </a:r>
            </a:p>
          </p:txBody>
        </p:sp>
        <p:sp>
          <p:nvSpPr>
            <p:cNvPr id="37" name="Architecture Diagram caption"/>
            <p:cNvSpPr txBox="1"/>
            <p:nvPr/>
          </p:nvSpPr>
          <p:spPr>
            <a:xfrm>
              <a:off x="1078992" y="18895060"/>
              <a:ext cx="897026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3. Role-based architecture: each role reaches shared services through the REST API.</a:t>
              </a:r>
            </a:p>
          </p:txBody>
        </p:sp>
        <p:sp>
          <p:nvSpPr>
            <p:cNvPr id="39" name="Erd / Uml / Wireframes caption"/>
            <p:cNvSpPr txBox="1"/>
            <p:nvPr/>
          </p:nvSpPr>
          <p:spPr>
            <a:xfrm>
              <a:off x="1078992" y="23728680"/>
              <a:ext cx="897026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4. Sequence diagram: learner, school manager and administrator interactions with the web frontend, backend API and MySQL database.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1078992" y="14756384"/>
              <a:ext cx="2889504" cy="132588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Learner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Exam slot search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Real-time booking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School lookup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4119372" y="14756384"/>
              <a:ext cx="2889504" cy="132588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Manager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Service packages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Lead tracking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7159752" y="14756384"/>
              <a:ext cx="2889504" cy="1325880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Admin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Examiner allocation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Accreditation audits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078992" y="16182847"/>
              <a:ext cx="8970264" cy="50292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Client UI  •  HTML5 / CSS3 / JS</a:t>
              </a:r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1078992" y="16768064"/>
              <a:ext cx="8970264" cy="50292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bg1"/>
                  </a:solidFill>
                </a:rPr>
                <a:t>Role-Based Access Control (RBAC)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1078992" y="17353280"/>
              <a:ext cx="8970264" cy="64008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REST API Engine</a:t>
              </a:r>
            </a:p>
            <a:p>
              <a:pPr algn="ctr"/>
              <a:r>
                <a:rPr sz="1400" b="0">
                  <a:solidFill>
                    <a:schemeClr val="tx1"/>
                  </a:solidFill>
                </a:rPr>
                <a:t>Node.js / Express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1078992" y="18075656"/>
              <a:ext cx="8970264" cy="640080"/>
            </a:xfrm>
            <a:prstGeom prst="roundRect">
              <a:avLst>
                <a:gd name="adj" fmla="val 1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400" b="1">
                  <a:solidFill>
                    <a:schemeClr val="bg1"/>
                  </a:solidFill>
                </a:rPr>
                <a:t>Relational Database</a:t>
              </a:r>
            </a:p>
            <a:p>
              <a:pPr algn="ctr"/>
              <a:r>
                <a:rPr sz="1400" b="0">
                  <a:solidFill>
                    <a:schemeClr val="bg1"/>
                  </a:solidFill>
                </a:rPr>
                <a:t>MySQL / PostgreSQL</a:t>
              </a:r>
            </a:p>
          </p:txBody>
        </p:sp>
        <p:pic>
          <p:nvPicPr>
            <p:cNvPr id="89" name="Sequence diagram" descr="seq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8927" y="19312128"/>
              <a:ext cx="7962900" cy="4343400"/>
            </a:xfrm>
            <a:prstGeom prst="rect">
              <a:avLst/>
            </a:prstGeom>
          </p:spPr>
        </p:pic>
      </p:grpSp>
      <p:grpSp>
        <p:nvGrpSpPr>
          <p:cNvPr id="40" name="Section 5 - Conclusion"/>
          <p:cNvGrpSpPr/>
          <p:nvPr/>
        </p:nvGrpSpPr>
        <p:grpSpPr>
          <a:xfrm>
            <a:off x="722376" y="24615648"/>
            <a:ext cx="9683496" cy="2743200"/>
            <a:chOff x="722376" y="24615648"/>
            <a:chExt cx="9683496" cy="2743200"/>
          </a:xfrm>
        </p:grpSpPr>
        <p:sp>
          <p:nvSpPr>
            <p:cNvPr id="41" name="Card"/>
            <p:cNvSpPr/>
            <p:nvPr/>
          </p:nvSpPr>
          <p:spPr>
            <a:xfrm>
              <a:off x="722376" y="24615648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Number"/>
            <p:cNvSpPr txBox="1"/>
            <p:nvPr/>
          </p:nvSpPr>
          <p:spPr>
            <a:xfrm>
              <a:off x="1078992" y="24871680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5</a:t>
              </a:r>
            </a:p>
          </p:txBody>
        </p:sp>
        <p:sp>
          <p:nvSpPr>
            <p:cNvPr id="43" name="Heading"/>
            <p:cNvSpPr txBox="1"/>
            <p:nvPr/>
          </p:nvSpPr>
          <p:spPr>
            <a:xfrm>
              <a:off x="1947672" y="24871680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CONCLUSION</a:t>
              </a:r>
            </a:p>
          </p:txBody>
        </p:sp>
        <p:sp>
          <p:nvSpPr>
            <p:cNvPr id="44" name="Conclusion text"/>
            <p:cNvSpPr txBox="1"/>
            <p:nvPr/>
          </p:nvSpPr>
          <p:spPr>
            <a:xfrm>
              <a:off x="1078992" y="25758648"/>
              <a:ext cx="8970264" cy="1600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NDSTP replaces paper-based, queue-heavy DRTS operations with a self-service portal.</a:t>
              </a:r>
            </a:p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TAM, dynamic slot scheduling and RBAC together resolve congestion and market asymmetry.</a:t>
              </a:r>
            </a:p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All evaluation targets were met, including zero double-bookings.</a:t>
              </a:r>
            </a:p>
          </p:txBody>
        </p:sp>
      </p:grpSp>
      <p:grpSp>
        <p:nvGrpSpPr>
          <p:cNvPr id="45" name="Section 2 - Literature Review"/>
          <p:cNvGrpSpPr/>
          <p:nvPr/>
        </p:nvGrpSpPr>
        <p:grpSpPr>
          <a:xfrm>
            <a:off x="10981944" y="4965192"/>
            <a:ext cx="9683496" cy="9052560"/>
            <a:chOff x="10981944" y="4965192"/>
            <a:chExt cx="9683496" cy="9052560"/>
          </a:xfrm>
        </p:grpSpPr>
        <p:sp>
          <p:nvSpPr>
            <p:cNvPr id="46" name="Card"/>
            <p:cNvSpPr/>
            <p:nvPr/>
          </p:nvSpPr>
          <p:spPr>
            <a:xfrm>
              <a:off x="10981944" y="4965192"/>
              <a:ext cx="9683496" cy="9052560"/>
            </a:xfrm>
            <a:prstGeom prst="roundRect">
              <a:avLst>
                <a:gd name="adj" fmla="val 1818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Number"/>
            <p:cNvSpPr txBox="1"/>
            <p:nvPr/>
          </p:nvSpPr>
          <p:spPr>
            <a:xfrm>
              <a:off x="11338560" y="5221224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2</a:t>
              </a:r>
            </a:p>
          </p:txBody>
        </p:sp>
        <p:sp>
          <p:nvSpPr>
            <p:cNvPr id="48" name="Heading"/>
            <p:cNvSpPr txBox="1"/>
            <p:nvPr/>
          </p:nvSpPr>
          <p:spPr>
            <a:xfrm>
              <a:off x="12207240" y="5221224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LITERATURE REVIEW</a:t>
              </a:r>
            </a:p>
          </p:txBody>
        </p:sp>
        <p:sp>
          <p:nvSpPr>
            <p:cNvPr id="49" name="Literature review text"/>
            <p:cNvSpPr txBox="1"/>
            <p:nvPr/>
          </p:nvSpPr>
          <p:spPr>
            <a:xfrm>
              <a:off x="11338560" y="6108192"/>
              <a:ext cx="8970264" cy="2743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1" i="0">
                  <a:solidFill>
                    <a:schemeClr val="tx1"/>
                  </a:solidFill>
                  <a:latin typeface="+mn-lt"/>
                </a:rPr>
                <a:t>TAM: </a:t>
              </a:r>
              <a:r>
                <a:rPr sz="1900" b="0" i="0">
                  <a:solidFill>
                    <a:schemeClr val="tx1"/>
                  </a:solidFill>
                  <a:latin typeface="+mn-lt"/>
                </a:rPr>
                <a:t>adoption depends on Perceived Usefulness and Ease of Use (Davis, 1989).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1" i="0">
                  <a:solidFill>
                    <a:schemeClr val="tx1"/>
                  </a:solidFill>
                  <a:latin typeface="+mn-lt"/>
                </a:rPr>
                <a:t>Dynamic scheduling: </a:t>
              </a:r>
              <a:r>
                <a:rPr sz="1900" b="0" i="0">
                  <a:solidFill>
                    <a:schemeClr val="tx1"/>
                  </a:solidFill>
                  <a:latin typeface="+mn-lt"/>
                </a:rPr>
                <a:t>transactional locking removes double-bookings (Silberschatz et al., 2020).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1" i="0">
                  <a:solidFill>
                    <a:schemeClr val="tx1"/>
                  </a:solidFill>
                  <a:latin typeface="+mn-lt"/>
                </a:rPr>
                <a:t>Two-sided platforms: </a:t>
              </a:r>
              <a:r>
                <a:rPr sz="1900" b="0" i="0">
                  <a:solidFill>
                    <a:schemeClr val="tx1"/>
                  </a:solidFill>
                  <a:latin typeface="+mn-lt"/>
                </a:rPr>
                <a:t>aggregation cuts search costs and lifts small-firm visibility (Rochet &amp; Tirole, 2003).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1" i="0">
                  <a:solidFill>
                    <a:schemeClr val="tx1"/>
                  </a:solidFill>
                  <a:latin typeface="+mn-lt"/>
                </a:rPr>
                <a:t>Gap: </a:t>
              </a:r>
              <a:r>
                <a:rPr sz="1900" b="0" i="0">
                  <a:solidFill>
                    <a:schemeClr val="tx1"/>
                  </a:solidFill>
                  <a:latin typeface="+mn-lt"/>
                </a:rPr>
                <a:t>no approach pairs real-time slot locking with verified school listings.</a:t>
              </a:r>
            </a:p>
          </p:txBody>
        </p:sp>
        <p:graphicFrame>
          <p:nvGraphicFramePr>
            <p:cNvPr id="50" name="Comparison table"/>
            <p:cNvGraphicFramePr>
              <a:graphicFrameLocks noGrp="1"/>
            </p:cNvGraphicFramePr>
            <p:nvPr/>
          </p:nvGraphicFramePr>
          <p:xfrm>
            <a:off x="11338560" y="8321040"/>
            <a:ext cx="8970264" cy="1682496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34087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780782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780782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384048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Existing work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Strength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Limitation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84048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Manual DRTS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Physical audit trail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Queues, double-booking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84048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Social media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Broad reach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Unverified, no slot sync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84048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tx1"/>
                            </a:solidFill>
                            <a:latin typeface="+mn-lt"/>
                          </a:rPr>
                          <a:t>NDSTP Portal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gridSpan="2"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Real-time locks, RBAC and a verified school directory; needs web connection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sp>
          <p:nvSpPr>
            <p:cNvPr id="52" name="Framework caption"/>
            <p:cNvSpPr txBox="1"/>
            <p:nvPr/>
          </p:nvSpPr>
          <p:spPr>
            <a:xfrm>
              <a:off x="11338560" y="13578840"/>
              <a:ext cx="897026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1. Conceptual framework: three theories inform the design of NDSTP.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1338560" y="10424160"/>
              <a:ext cx="3566160" cy="950976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500" b="1">
                  <a:solidFill>
                    <a:schemeClr val="tx1"/>
                  </a:solidFill>
                </a:rPr>
                <a:t>Technology Acceptance Model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Usefulness and ease of use drive adoption</a:t>
              </a:r>
            </a:p>
          </p:txBody>
        </p:sp>
        <p:sp>
          <p:nvSpPr>
            <p:cNvPr id="74" name="Right Arrow 73"/>
            <p:cNvSpPr/>
            <p:nvPr/>
          </p:nvSpPr>
          <p:spPr>
            <a:xfrm>
              <a:off x="14977872" y="10753344"/>
              <a:ext cx="384048" cy="29260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1338560" y="11448288"/>
              <a:ext cx="3566160" cy="950976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500" b="1">
                  <a:solidFill>
                    <a:schemeClr val="tx1"/>
                  </a:solidFill>
                </a:rPr>
                <a:t>Dynamic scheduling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Transactional locking prevents collisions</a:t>
              </a:r>
            </a:p>
          </p:txBody>
        </p:sp>
        <p:sp>
          <p:nvSpPr>
            <p:cNvPr id="76" name="Right Arrow 75"/>
            <p:cNvSpPr/>
            <p:nvPr/>
          </p:nvSpPr>
          <p:spPr>
            <a:xfrm>
              <a:off x="14977872" y="11777472"/>
              <a:ext cx="384048" cy="29260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1338560" y="12472416"/>
              <a:ext cx="3566160" cy="950976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accent2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500" b="1">
                  <a:solidFill>
                    <a:schemeClr val="tx1"/>
                  </a:solidFill>
                </a:rPr>
                <a:t>Two-sided platforms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Marketplace cuts search costs</a:t>
              </a:r>
            </a:p>
          </p:txBody>
        </p:sp>
        <p:sp>
          <p:nvSpPr>
            <p:cNvPr id="78" name="Right Arrow 77"/>
            <p:cNvSpPr/>
            <p:nvPr/>
          </p:nvSpPr>
          <p:spPr>
            <a:xfrm>
              <a:off x="14977872" y="12801600"/>
              <a:ext cx="384048" cy="29260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5407640" y="10424160"/>
              <a:ext cx="2240280" cy="2999232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600" b="1">
                  <a:solidFill>
                    <a:schemeClr val="bg1"/>
                  </a:solidFill>
                </a:rPr>
                <a:t>NDSTP</a:t>
              </a:r>
            </a:p>
            <a:p>
              <a:pPr algn="ctr"/>
              <a:r>
                <a:rPr sz="1600" b="0">
                  <a:solidFill>
                    <a:schemeClr val="bg1"/>
                  </a:solidFill>
                </a:rPr>
                <a:t>Real-time slot locking</a:t>
              </a:r>
            </a:p>
            <a:p>
              <a:pPr algn="ctr"/>
              <a:r>
                <a:rPr sz="1600" b="0">
                  <a:solidFill>
                    <a:schemeClr val="bg1"/>
                  </a:solidFill>
                </a:rPr>
                <a:t>RBAC security</a:t>
              </a:r>
            </a:p>
            <a:p>
              <a:pPr algn="ctr"/>
              <a:r>
                <a:rPr sz="1600" b="0">
                  <a:solidFill>
                    <a:schemeClr val="bg1"/>
                  </a:solidFill>
                </a:rPr>
                <a:t>Verified school directory</a:t>
              </a:r>
            </a:p>
          </p:txBody>
        </p:sp>
        <p:sp>
          <p:nvSpPr>
            <p:cNvPr id="80" name="Right Arrow 79"/>
            <p:cNvSpPr/>
            <p:nvPr/>
          </p:nvSpPr>
          <p:spPr>
            <a:xfrm>
              <a:off x="17711928" y="11777472"/>
              <a:ext cx="384048" cy="292608"/>
            </a:xfrm>
            <a:prstGeom prst="rightArrow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18150840" y="10424160"/>
              <a:ext cx="2157984" cy="2999232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500" b="1">
                  <a:solidFill>
                    <a:schemeClr val="tx1"/>
                  </a:solidFill>
                </a:rPr>
                <a:t>Outcome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Less physical congestion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No double-booking</a:t>
              </a:r>
            </a:p>
            <a:p>
              <a:pPr algn="ctr"/>
              <a:r>
                <a:rPr sz="1500" b="0">
                  <a:solidFill>
                    <a:schemeClr val="tx1"/>
                  </a:solidFill>
                </a:rPr>
                <a:t>Reduced market asymmetry</a:t>
              </a:r>
            </a:p>
          </p:txBody>
        </p:sp>
      </p:grpSp>
      <p:grpSp>
        <p:nvGrpSpPr>
          <p:cNvPr id="53" name="Section 4 - Results &amp; Discussion"/>
          <p:cNvGrpSpPr/>
          <p:nvPr/>
        </p:nvGrpSpPr>
        <p:grpSpPr>
          <a:xfrm>
            <a:off x="10977753" y="14255496"/>
            <a:ext cx="9683496" cy="9866376"/>
            <a:chOff x="10687494" y="14245844"/>
            <a:chExt cx="9683496" cy="9866376"/>
          </a:xfrm>
        </p:grpSpPr>
        <p:sp>
          <p:nvSpPr>
            <p:cNvPr id="54" name="Card"/>
            <p:cNvSpPr/>
            <p:nvPr/>
          </p:nvSpPr>
          <p:spPr>
            <a:xfrm>
              <a:off x="10687494" y="14245844"/>
              <a:ext cx="9683496" cy="9866376"/>
            </a:xfrm>
            <a:prstGeom prst="roundRect">
              <a:avLst>
                <a:gd name="adj" fmla="val 1699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Number"/>
            <p:cNvSpPr txBox="1"/>
            <p:nvPr/>
          </p:nvSpPr>
          <p:spPr>
            <a:xfrm>
              <a:off x="11338560" y="14639544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4</a:t>
              </a:r>
            </a:p>
          </p:txBody>
        </p:sp>
        <p:sp>
          <p:nvSpPr>
            <p:cNvPr id="56" name="Heading"/>
            <p:cNvSpPr txBox="1"/>
            <p:nvPr/>
          </p:nvSpPr>
          <p:spPr>
            <a:xfrm>
              <a:off x="12207240" y="14639544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RESULTS &amp; DISCUSSION</a:t>
              </a:r>
            </a:p>
          </p:txBody>
        </p:sp>
        <p:sp>
          <p:nvSpPr>
            <p:cNvPr id="57" name="Results text"/>
            <p:cNvSpPr txBox="1"/>
            <p:nvPr/>
          </p:nvSpPr>
          <p:spPr>
            <a:xfrm>
              <a:off x="11338560" y="15526512"/>
              <a:ext cx="8970264" cy="20116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Prototype verified by automated tests, concurrency load simulation and UAT.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All three criteria passed: 100% tests, SUS 84.5, 420 ms with zero collisions.</a:t>
              </a:r>
            </a:p>
            <a:p>
              <a:pPr marL="274320" indent="-274320" algn="l">
                <a:spcAft>
                  <a:spcPts val="5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900" b="0" i="0">
                  <a:solidFill>
                    <a:schemeClr val="tx1"/>
                  </a:solidFill>
                  <a:latin typeface="+mn-lt"/>
                </a:rPr>
                <a:t>Transactional locks prevented double-booking under simulated concurrent slot selection.</a:t>
              </a:r>
            </a:p>
          </p:txBody>
        </p:sp>
        <p:sp>
          <p:nvSpPr>
            <p:cNvPr id="59" name="Screenshot caption"/>
            <p:cNvSpPr txBox="1"/>
            <p:nvPr/>
          </p:nvSpPr>
          <p:spPr>
            <a:xfrm>
              <a:off x="11338560" y="20665440"/>
              <a:ext cx="897026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500" b="0" i="1">
                  <a:solidFill>
                    <a:schemeClr val="tx1">
                      <a:lumMod val="60000"/>
                      <a:lumOff val="40000"/>
                    </a:schemeClr>
                  </a:solidFill>
                  <a:latin typeface="+mn-lt"/>
                </a:rPr>
                <a:t>Figure 5. Evaluation highlights from the functional prototype.</a:t>
              </a:r>
            </a:p>
          </p:txBody>
        </p:sp>
        <p:graphicFrame>
          <p:nvGraphicFramePr>
            <p:cNvPr id="60" name="Evaluation table"/>
            <p:cNvGraphicFramePr>
              <a:graphicFrameLocks noGrp="1"/>
            </p:cNvGraphicFramePr>
            <p:nvPr/>
          </p:nvGraphicFramePr>
          <p:xfrm>
            <a:off x="11338560" y="21168360"/>
            <a:ext cx="8970264" cy="2112264"/>
          </p:xfrm>
          <a:graphic>
            <a:graphicData uri="http://schemas.openxmlformats.org/drawingml/2006/table">
              <a:tbl>
                <a:tblPr>
                  <a:tableStyleId>{5940675A-B579-460E-94D1-54222C63F5DA}</a:tableStyleId>
                </a:tblPr>
                <a:tblGrid>
                  <a:gridCol w="18288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7432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1168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386584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411480"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Evaluation criterion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Method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Target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1" i="0">
                            <a:solidFill>
                              <a:schemeClr val="bg1"/>
                            </a:solidFill>
                            <a:latin typeface="+mn-lt"/>
                          </a:rPr>
                          <a:t>Result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tx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66928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Functionality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Automated tests (Auth, Slot CRUD)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100% pass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PASSED: 100%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66928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Usability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UAT with SUS survey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Score &gt; 80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PASSED: 84.5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66928"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Performance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Concurrency load simulation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&lt; 2.0 s, 0 collisions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sz="1500" b="0" i="0">
                            <a:solidFill>
                              <a:schemeClr val="tx1"/>
                            </a:solidFill>
                            <a:latin typeface="+mn-lt"/>
                          </a:rPr>
                          <a:t>PASSED: 420 ms, 0 broken locks</a:t>
                        </a:r>
                      </a:p>
                    </a:txBody>
                    <a:tcPr marT="36576" marB="36576" anchor="ctr">
                      <a:lnL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L>
                      <a:lnR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R>
                      <a:lnT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T>
                      <a:lnB w="12700">
                        <a:solidFill>
                          <a:schemeClr val="tx2">
                            <a:lumMod val="25000"/>
                            <a:lumOff val="75000"/>
                          </a:schemeClr>
                        </a:solidFill>
                      </a:lnB>
                      <a:solidFill>
                        <a:schemeClr val="bg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  <p:grpSp>
        <p:nvGrpSpPr>
          <p:cNvPr id="61" name="Section 6 - Recommendations &amp; Future Work"/>
          <p:cNvGrpSpPr/>
          <p:nvPr/>
        </p:nvGrpSpPr>
        <p:grpSpPr>
          <a:xfrm>
            <a:off x="10981944" y="24615648"/>
            <a:ext cx="9683496" cy="2743200"/>
            <a:chOff x="10981944" y="24615648"/>
            <a:chExt cx="9683496" cy="2743200"/>
          </a:xfrm>
        </p:grpSpPr>
        <p:sp>
          <p:nvSpPr>
            <p:cNvPr id="62" name="Card"/>
            <p:cNvSpPr/>
            <p:nvPr/>
          </p:nvSpPr>
          <p:spPr>
            <a:xfrm>
              <a:off x="10981944" y="24615648"/>
              <a:ext cx="9683496" cy="27432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Number"/>
            <p:cNvSpPr txBox="1"/>
            <p:nvPr/>
          </p:nvSpPr>
          <p:spPr>
            <a:xfrm>
              <a:off x="11338560" y="24871680"/>
              <a:ext cx="868680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3000" b="1" i="0">
                  <a:solidFill>
                    <a:schemeClr val="accent1"/>
                  </a:solidFill>
                  <a:latin typeface="+mj-lt"/>
                </a:rPr>
                <a:t>6</a:t>
              </a:r>
            </a:p>
          </p:txBody>
        </p:sp>
        <p:sp>
          <p:nvSpPr>
            <p:cNvPr id="64" name="Heading"/>
            <p:cNvSpPr txBox="1"/>
            <p:nvPr/>
          </p:nvSpPr>
          <p:spPr>
            <a:xfrm>
              <a:off x="12207240" y="24871680"/>
              <a:ext cx="8101584" cy="7223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buNone/>
              </a:pPr>
              <a:r>
                <a:rPr sz="2600" b="1" i="0">
                  <a:solidFill>
                    <a:schemeClr val="tx1"/>
                  </a:solidFill>
                  <a:latin typeface="+mj-lt"/>
                </a:rPr>
                <a:t>RECOMMENDATIONS &amp; FUTURE WORK</a:t>
              </a:r>
            </a:p>
          </p:txBody>
        </p:sp>
        <p:sp>
          <p:nvSpPr>
            <p:cNvPr id="65" name="Recommendations text"/>
            <p:cNvSpPr txBox="1"/>
            <p:nvPr/>
          </p:nvSpPr>
          <p:spPr>
            <a:xfrm>
              <a:off x="11338560" y="25758648"/>
              <a:ext cx="8970264" cy="1600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Pilot NDSTP at DRTS in Gaborone and Francistown.</a:t>
              </a:r>
            </a:p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Integrate Orange Money and MyZaka for instant fee settlement.</a:t>
              </a:r>
            </a:p>
            <a:p>
              <a:pPr marL="274320" indent="-274320" algn="l">
                <a:spcAft>
                  <a:spcPts val="400"/>
                </a:spcAft>
                <a:buClr>
                  <a:schemeClr val="accent1"/>
                </a:buClr>
                <a:buSzPct val="100000"/>
                <a:buFont typeface="Arial"/>
                <a:buChar char="•"/>
              </a:pPr>
              <a:r>
                <a:rPr sz="1800" b="0" i="0">
                  <a:solidFill>
                    <a:schemeClr val="tx1"/>
                  </a:solidFill>
                  <a:latin typeface="+mn-lt"/>
                </a:rPr>
                <a:t>Add SMS and email reminders and a Flutter mobile app.</a:t>
              </a:r>
            </a:p>
          </p:txBody>
        </p:sp>
      </p:grpSp>
      <p:grpSp>
        <p:nvGrpSpPr>
          <p:cNvPr id="66" name="References and QR codes"/>
          <p:cNvGrpSpPr/>
          <p:nvPr/>
        </p:nvGrpSpPr>
        <p:grpSpPr>
          <a:xfrm>
            <a:off x="722376" y="27715464"/>
            <a:ext cx="19943064" cy="1837944"/>
            <a:chOff x="722376" y="27715464"/>
            <a:chExt cx="19943064" cy="1837944"/>
          </a:xfrm>
        </p:grpSpPr>
        <p:sp>
          <p:nvSpPr>
            <p:cNvPr id="67" name="Panel"/>
            <p:cNvSpPr/>
            <p:nvPr/>
          </p:nvSpPr>
          <p:spPr>
            <a:xfrm>
              <a:off x="722376" y="27715464"/>
              <a:ext cx="19943064" cy="1837944"/>
            </a:xfrm>
            <a:prstGeom prst="roundRect">
              <a:avLst>
                <a:gd name="adj" fmla="val 8955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ferences label"/>
            <p:cNvSpPr txBox="1"/>
            <p:nvPr/>
          </p:nvSpPr>
          <p:spPr>
            <a:xfrm>
              <a:off x="1152144" y="27953208"/>
              <a:ext cx="15462504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600" b="1" i="0" spc="300">
                  <a:solidFill>
                    <a:schemeClr val="accent1">
                      <a:lumMod val="55000"/>
                      <a:lumOff val="45000"/>
                    </a:schemeClr>
                  </a:solidFill>
                  <a:latin typeface="+mn-lt"/>
                </a:rPr>
                <a:t>REFERENCES</a:t>
              </a:r>
            </a:p>
          </p:txBody>
        </p:sp>
        <p:sp>
          <p:nvSpPr>
            <p:cNvPr id="69" name="References list"/>
            <p:cNvSpPr txBox="1"/>
            <p:nvPr/>
          </p:nvSpPr>
          <p:spPr>
            <a:xfrm>
              <a:off x="1152144" y="28373832"/>
              <a:ext cx="15462504" cy="10149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buNone/>
              </a:pPr>
              <a:r>
                <a:rPr sz="1300" b="0" i="0">
                  <a:solidFill>
                    <a:schemeClr val="bg1">
                      <a:lumMod val="85000"/>
                    </a:schemeClr>
                  </a:solidFill>
                  <a:latin typeface="+mn-lt"/>
                </a:rPr>
                <a:t>Davis, F. D. (1989). Perceived usefulness and acceptance of IT. MISQ, 13(3), 319–340.  •  Government of Botswana. (2020). Road Transport and Safety Strategy Report. Gaborone.  •  Leong, C., et al. (2021). Smart appointment systems. J. Inf. Tech., 36(2), 145–162.  •  Mpofu, R., &amp; Ohei, K. N. (2022). Directory platforms &amp; market visibility. AJIS, 14(1).  •  Rochet, J.-C., &amp; Tirole, J. (2003). Platform competition in two-sided markets.  •  Silberschatz, A., et al. (2020). Database system concepts.</a:t>
              </a:r>
            </a:p>
          </p:txBody>
        </p:sp>
        <p:pic>
          <p:nvPicPr>
            <p:cNvPr id="70" name="Code QR picture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54928" y="27880056"/>
              <a:ext cx="1508760" cy="1508760"/>
            </a:xfrm>
            <a:prstGeom prst="rect">
              <a:avLst/>
            </a:prstGeom>
          </p:spPr>
        </p:pic>
        <p:pic>
          <p:nvPicPr>
            <p:cNvPr id="71" name="Demo QR picture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888968" y="27880056"/>
              <a:ext cx="1508760" cy="1508760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8EDAC2C-6D46-86C2-53A1-8C822E2B1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976" y="891985"/>
            <a:ext cx="2116660" cy="299771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F1DB230-E84B-6084-3D61-56A44B9C5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2423" y="17155160"/>
            <a:ext cx="4217389" cy="2693924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CB905CE9-CBF3-C485-0BA8-B7264F0403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31351" y="17147268"/>
            <a:ext cx="4901184" cy="2776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ster A – Showcase">
  <a:themeElements>
    <a:clrScheme name="Poster A – Showcase">
      <a:dk1>
        <a:srgbClr val="1E293B"/>
      </a:dk1>
      <a:lt1>
        <a:srgbClr val="FFFFFF"/>
      </a:lt1>
      <a:dk2>
        <a:srgbClr val="1E293B"/>
      </a:dk2>
      <a:lt2>
        <a:srgbClr val="F1F5F9"/>
      </a:lt2>
      <a:accent1>
        <a:srgbClr val="EA580C"/>
      </a:accent1>
      <a:accent2>
        <a:srgbClr val="475569"/>
      </a:accent2>
      <a:accent3>
        <a:srgbClr val="FDBA74"/>
      </a:accent3>
      <a:accent4>
        <a:srgbClr val="94A3B8"/>
      </a:accent4>
      <a:accent5>
        <a:srgbClr val="FFEDD5"/>
      </a:accent5>
      <a:accent6>
        <a:srgbClr val="64748B"/>
      </a:accent6>
      <a:hlink>
        <a:srgbClr val="C2410C"/>
      </a:hlink>
      <a:folHlink>
        <a:srgbClr val="64748B"/>
      </a:folHlink>
    </a:clrScheme>
    <a:fontScheme name="Poster A – Showca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787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Poster A – Showcase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Development Poster Template B</dc:title>
  <dc:subject>PptxGenJS Presentation</dc:subject>
  <dc:creator>BSBS</dc:creator>
  <cp:lastModifiedBy>Itumeleng Sepepe</cp:lastModifiedBy>
  <cp:revision>2</cp:revision>
  <dcterms:created xsi:type="dcterms:W3CDTF">2026-10-12T06:40:15Z</dcterms:created>
  <dcterms:modified xsi:type="dcterms:W3CDTF">2026-10-26T09:01:55Z</dcterms:modified>
</cp:coreProperties>
</file>